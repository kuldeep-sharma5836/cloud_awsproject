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85" r:id="rId5"/>
    <p:sldId id="256" r:id="rId6"/>
    <p:sldId id="274" r:id="rId7"/>
    <p:sldId id="263" r:id="rId8"/>
    <p:sldId id="257" r:id="rId9"/>
    <p:sldId id="270" r:id="rId10"/>
    <p:sldId id="280" r:id="rId11"/>
    <p:sldId id="284" r:id="rId12"/>
    <p:sldId id="282" r:id="rId13"/>
    <p:sldId id="283" r:id="rId14"/>
    <p:sldId id="27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635"/>
    <a:srgbClr val="26862F"/>
    <a:srgbClr val="D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28" autoAdjust="0"/>
    <p:restoredTop sz="94660"/>
  </p:normalViewPr>
  <p:slideViewPr>
    <p:cSldViewPr>
      <p:cViewPr varScale="1">
        <p:scale>
          <a:sx n="82" d="100"/>
          <a:sy n="82" d="100"/>
        </p:scale>
        <p:origin x="135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2965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3DAE18-FF53-43C8-B129-B2254E0CD3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4C594C-BB62-4D1A-AA15-460CAB0268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AB0719-0C0B-4FCD-8C42-A758D216E1BD}" type="datetimeFigureOut">
              <a:rPr lang="en-US" smtClean="0"/>
              <a:t>12/2/2024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7CD9E3-2F3C-4226-A22C-6BC586ACB3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FA062-CF80-4049-B333-6A99FEE14B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DC2621-7037-4E35-B549-8255C904F6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8871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925A17EF-115B-4BB9-BF42-426DFD9E898A}" type="datetimeFigureOut">
              <a:rPr lang="en-US" smtClean="0"/>
              <a:pPr/>
              <a:t>12/2/2024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7C4E7652-46AF-4259-BAE2-54978EA077C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4E7652-46AF-4259-BAE2-54978EA077CD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4E7652-46AF-4259-BAE2-54978EA077CD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4E7652-46AF-4259-BAE2-54978EA077CD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770D99E-2869-438B-B483-1F6CCD5437EE}"/>
              </a:ext>
            </a:extLst>
          </p:cNvPr>
          <p:cNvGrpSpPr/>
          <p:nvPr userDrawn="1"/>
        </p:nvGrpSpPr>
        <p:grpSpPr>
          <a:xfrm>
            <a:off x="-1" y="-10825"/>
            <a:ext cx="9144002" cy="6515395"/>
            <a:chOff x="-1" y="-10825"/>
            <a:chExt cx="9144002" cy="6515395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F66236F9-EA1F-4D2A-84DE-EC04F9972C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7200" y="-10825"/>
              <a:ext cx="3429000" cy="3181546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32A12C4E-53AE-4900-9783-F619054408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95401" y="-10825"/>
              <a:ext cx="7848600" cy="3522243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A14E049B-6FD4-487E-927B-506983629A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31825" y="2232482"/>
              <a:ext cx="1282976" cy="1108588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F27E3F5-0D4D-492C-8A3E-50BC30CEFD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-1" y="2962082"/>
              <a:ext cx="2757625" cy="3542488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6D4FF91-8818-4598-AC9F-B8C2FA867C0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" y="2313169"/>
              <a:ext cx="2259131" cy="2895506"/>
            </a:xfrm>
            <a:prstGeom prst="rect">
              <a:avLst/>
            </a:prstGeom>
          </p:spPr>
        </p:pic>
      </p:grp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276600" y="1213332"/>
            <a:ext cx="5326856" cy="1425577"/>
          </a:xfrm>
        </p:spPr>
        <p:txBody>
          <a:bodyPr anchor="b"/>
          <a:lstStyle>
            <a:lvl1pPr algn="r">
              <a:defRPr sz="45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724400" y="3849666"/>
            <a:ext cx="3879056" cy="1234575"/>
          </a:xfrm>
          <a:noFill/>
        </p:spPr>
        <p:txBody>
          <a:bodyPr/>
          <a:lstStyle>
            <a:lvl1pPr marL="0" marR="36576" indent="0" algn="l">
              <a:spcBef>
                <a:spcPts val="0"/>
              </a:spcBef>
              <a:buNone/>
              <a:defRPr>
                <a:ln>
                  <a:noFill/>
                </a:ln>
                <a:solidFill>
                  <a:schemeClr val="bg2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2812256" y="6322007"/>
            <a:ext cx="5791200" cy="365125"/>
          </a:xfrm>
          <a:prstGeom prst="rect">
            <a:avLst/>
          </a:prstGeom>
        </p:spPr>
        <p:txBody>
          <a:bodyPr tIns="0" bIns="0" anchor="t"/>
          <a:lstStyle>
            <a:lvl1pPr algn="r">
              <a:defRPr sz="1000"/>
            </a:lvl1pPr>
          </a:lstStyle>
          <a:p>
            <a:pPr algn="r"/>
            <a:fld id="{A2E209FB-7A34-414B-812A-BCC5C4256F49}" type="datetime1">
              <a:rPr lang="en-US" smtClean="0"/>
              <a:pPr algn="r"/>
              <a:t>12/2/2024</a:t>
            </a:fld>
            <a:endParaRPr lang="en-US" sz="10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12256" y="5960055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pPr algn="r"/>
            <a:endParaRPr lang="en-US" sz="11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4876800" cy="7993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15000" y="173195"/>
            <a:ext cx="2468880" cy="3008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www.website.com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243F-3000-4347-94A4-FBDEAD3122C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ABB0C64-AD16-4270-8323-3B986F4CAD10}"/>
              </a:ext>
            </a:extLst>
          </p:cNvPr>
          <p:cNvGrpSpPr/>
          <p:nvPr userDrawn="1"/>
        </p:nvGrpSpPr>
        <p:grpSpPr>
          <a:xfrm>
            <a:off x="5105399" y="3142"/>
            <a:ext cx="4038601" cy="1101851"/>
            <a:chOff x="5334000" y="-37306"/>
            <a:chExt cx="3281716" cy="895350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323EE1CF-2D6B-4E08-B98D-D9F9B91968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48301" y="-37306"/>
              <a:ext cx="3167415" cy="60960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2AA44434-8959-4391-901A-0B056114A2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334000" y="-37306"/>
              <a:ext cx="819150" cy="89535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133CFB-98CB-4408-8818-24F931AC1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EE7E31-13F0-404F-BFFF-EE236EB5D4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www.website.com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C6F67-BAE4-413D-8066-1E361D589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598980-D22C-4904-9F8F-3DB09B2ECD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F566D8F-E696-41DE-BA1C-A8D0C7F03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5655"/>
            <a:ext cx="7726680" cy="571500"/>
          </a:xfrm>
        </p:spPr>
        <p:txBody>
          <a:bodyPr>
            <a:normAutofit/>
          </a:bodyPr>
          <a:lstStyle>
            <a:lvl1pPr marL="64008" indent="0">
              <a:buFont typeface="Arial" panose="020B0604020202020204" pitchFamily="34" charset="0"/>
              <a:buNone/>
              <a:defRPr sz="2000"/>
            </a:lvl1pPr>
            <a:lvl2pPr marL="537210" indent="0">
              <a:buNone/>
              <a:defRPr/>
            </a:lvl2pPr>
            <a:lvl3pPr marL="877824" indent="0">
              <a:buNone/>
              <a:defRPr/>
            </a:lvl3pPr>
            <a:lvl4pPr marL="1161288" indent="0">
              <a:buNone/>
              <a:defRPr/>
            </a:lvl4pPr>
            <a:lvl5pPr marL="138988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878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791200" y="173195"/>
            <a:ext cx="2355056" cy="301752"/>
          </a:xfrm>
        </p:spPr>
        <p:txBody>
          <a:bodyPr/>
          <a:lstStyle/>
          <a:p>
            <a:r>
              <a:rPr lang="en-US" dirty="0"/>
              <a:t>www.website.com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32CA5EA-865E-4EF0-89BB-61FD6EFE2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80070" y="173195"/>
            <a:ext cx="502920" cy="301752"/>
          </a:xfrm>
        </p:spPr>
        <p:txBody>
          <a:bodyPr/>
          <a:lstStyle/>
          <a:p>
            <a:fld id="{FEA1243F-3000-4347-94A4-FBDEAD3122C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295400"/>
            <a:ext cx="914400" cy="5015864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5856" y="1295400"/>
            <a:ext cx="2438400" cy="5015864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51250" y="1295400"/>
            <a:ext cx="5276088" cy="501396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67400" y="173195"/>
            <a:ext cx="2324196" cy="301752"/>
          </a:xfrm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www.website.com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D5BE3E6-AFB3-460C-834B-D73EE2A7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1596" y="173195"/>
            <a:ext cx="502920" cy="301752"/>
          </a:xfrm>
        </p:spPr>
        <p:txBody>
          <a:bodyPr/>
          <a:lstStyle>
            <a:lvl1pPr>
              <a:defRPr sz="1200"/>
            </a:lvl1pPr>
          </a:lstStyle>
          <a:p>
            <a:fld id="{FEA1243F-3000-4347-94A4-FBDEAD3122C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12" Type="http://schemas.openxmlformats.org/officeDocument/2006/relationships/image" Target="../media/image7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5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Relationship Id="rId14" Type="http://schemas.openxmlformats.org/officeDocument/2006/relationships/image" Target="../media/image9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423E8A4-D2B7-46D2-92C3-AE6BC0B9BD06}"/>
              </a:ext>
            </a:extLst>
          </p:cNvPr>
          <p:cNvGrpSpPr/>
          <p:nvPr userDrawn="1"/>
        </p:nvGrpSpPr>
        <p:grpSpPr>
          <a:xfrm>
            <a:off x="5105399" y="3142"/>
            <a:ext cx="4038601" cy="1101851"/>
            <a:chOff x="5334000" y="-37306"/>
            <a:chExt cx="3281716" cy="895350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9309AE25-B267-4B83-A0CB-35016E70EE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448301" y="-37306"/>
              <a:ext cx="3167415" cy="60960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61BEEC28-F63A-4526-A6C3-33CFC7679C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334000" y="-37306"/>
              <a:ext cx="819150" cy="895350"/>
            </a:xfrm>
            <a:prstGeom prst="rect">
              <a:avLst/>
            </a:prstGeom>
          </p:spPr>
        </p:pic>
      </p:grp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66725" y="381198"/>
            <a:ext cx="4638674" cy="675926"/>
          </a:xfrm>
          <a:prstGeom prst="rect">
            <a:avLst/>
          </a:prstGeom>
        </p:spPr>
        <p:txBody>
          <a:bodyPr vert="horz" lIns="0" rIns="0" anchor="ctr">
            <a:noAutofit/>
          </a:bodyPr>
          <a:lstStyle/>
          <a:p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566839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867400" y="174116"/>
            <a:ext cx="2212182" cy="300831"/>
          </a:xfrm>
          <a:prstGeom prst="rect">
            <a:avLst/>
          </a:prstGeom>
        </p:spPr>
        <p:txBody>
          <a:bodyPr vert="horz" anchor="b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www.website.com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83880" y="173195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>
              <a:defRPr sz="1200" b="1">
                <a:solidFill>
                  <a:schemeClr val="bg2"/>
                </a:solidFill>
              </a:defRPr>
            </a:lvl1pPr>
          </a:lstStyle>
          <a:p>
            <a:fld id="{49598980-D22C-4904-9F8F-3DB09B2ECD8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1E45D2D-0469-4652-A090-C4D13F3C150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0" y="5307178"/>
            <a:ext cx="1219200" cy="155082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16C04FF8-AE2F-4C75-8657-A2201B95197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16459" y="4545317"/>
            <a:ext cx="1248460" cy="1570328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52" r:id="rId4"/>
    <p:sldLayoutId id="2147483656" r:id="rId5"/>
  </p:sldLayoutIdLst>
  <p:txStyles>
    <p:titleStyle>
      <a:lvl1pPr marL="182880" algn="l" rtl="0" eaLnBrk="1" latinLnBrk="0" hangingPunct="1">
        <a:spcBef>
          <a:spcPct val="0"/>
        </a:spcBef>
        <a:buNone/>
        <a:defRPr sz="4000" b="1" kern="1200">
          <a:ln w="6350">
            <a:noFill/>
          </a:ln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SzPct val="80000"/>
        <a:buFont typeface="Arial" panose="020B0604020202020204" pitchFamily="34" charset="0"/>
        <a:buChar char="•"/>
        <a:defRPr sz="2800" kern="1200">
          <a:solidFill>
            <a:schemeClr val="bg2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SzPct val="95000"/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2F40FD4-FC43-2B99-C55C-714B55E172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52700" y="4429644"/>
            <a:ext cx="4572000" cy="19901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9C933C-5C92-277E-E1C4-3CC1194C2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395"/>
            <a:ext cx="4495800" cy="1116106"/>
          </a:xfrm>
        </p:spPr>
        <p:txBody>
          <a:bodyPr/>
          <a:lstStyle/>
          <a:p>
            <a:r>
              <a:rPr lang="en-US" sz="3200" b="1" dirty="0"/>
              <a:t>GLA UNIVERSITY (MATHURA)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BF84C-0EC1-E21A-417D-E4BD5C95E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3214652"/>
            <a:ext cx="7162800" cy="958040"/>
          </a:xfrm>
        </p:spPr>
        <p:txBody>
          <a:bodyPr>
            <a:normAutofit fontScale="92500"/>
          </a:bodyPr>
          <a:lstStyle/>
          <a:p>
            <a:pPr marL="64008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i="0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Calisto MT" panose="02040603050505030304" pitchFamily="18" charset="0"/>
              </a:rPr>
              <a:t>SUPERVISOR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Calisto MT" panose="02040603050505030304" pitchFamily="18" charset="0"/>
              </a:rPr>
              <a:t> 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alisto MT" panose="02040603050505030304" pitchFamily="18" charset="0"/>
              </a:rPr>
              <a:t>-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Calisto MT" panose="02040603050505030304" pitchFamily="18" charset="0"/>
              </a:rPr>
              <a:t>   Mr. Raushan </a:t>
            </a:r>
            <a:r>
              <a:rPr lang="en-US" altLang="en-US" sz="2800" dirty="0">
                <a:solidFill>
                  <a:schemeClr val="accent2">
                    <a:lumMod val="75000"/>
                  </a:schemeClr>
                </a:solidFill>
                <a:latin typeface="Calisto MT" panose="02040603050505030304" pitchFamily="18" charset="0"/>
              </a:rPr>
              <a:t>K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Calisto MT" panose="02040603050505030304" pitchFamily="18" charset="0"/>
              </a:rPr>
              <a:t>umar </a:t>
            </a:r>
            <a:r>
              <a:rPr lang="en-US" altLang="en-US" sz="2800" dirty="0">
                <a:solidFill>
                  <a:schemeClr val="accent2">
                    <a:lumMod val="75000"/>
                  </a:schemeClr>
                </a:solidFill>
                <a:latin typeface="Calisto MT" panose="02040603050505030304" pitchFamily="18" charset="0"/>
              </a:rPr>
              <a:t>S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Calisto MT" panose="02040603050505030304" pitchFamily="18" charset="0"/>
              </a:rPr>
              <a:t>ingh</a:t>
            </a:r>
            <a:r>
              <a:rPr lang="en-US" altLang="en-US" sz="2800" dirty="0">
                <a:solidFill>
                  <a:schemeClr val="accent2">
                    <a:lumMod val="75000"/>
                  </a:schemeClr>
                </a:solidFill>
                <a:latin typeface="Calisto MT" panose="02040603050505030304" pitchFamily="18" charset="0"/>
              </a:rPr>
              <a:t>	</a:t>
            </a:r>
            <a:endParaRPr lang="en-US" altLang="en-US" dirty="0">
              <a:solidFill>
                <a:schemeClr val="accent2">
                  <a:lumMod val="75000"/>
                </a:schemeClr>
              </a:solidFill>
              <a:latin typeface="Calisto MT" panose="02040603050505030304" pitchFamily="18" charset="0"/>
            </a:endParaRPr>
          </a:p>
          <a:p>
            <a:pPr marL="64008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alisto MT" panose="02040603050505030304" pitchFamily="18" charset="0"/>
              </a:rPr>
              <a:t>		         Dr. </a:t>
            </a:r>
            <a:r>
              <a:rPr lang="en-US" altLang="en-US" sz="2800" dirty="0">
                <a:solidFill>
                  <a:schemeClr val="accent2">
                    <a:lumMod val="75000"/>
                  </a:schemeClr>
                </a:solidFill>
                <a:latin typeface="Calisto MT" panose="02040603050505030304" pitchFamily="18" charset="0"/>
              </a:rPr>
              <a:t>Ruby Panwar</a:t>
            </a:r>
          </a:p>
          <a:p>
            <a:pPr marL="64008" indent="0">
              <a:buNone/>
            </a:pPr>
            <a:endParaRPr lang="en-IN" dirty="0">
              <a:solidFill>
                <a:schemeClr val="accent2">
                  <a:lumMod val="75000"/>
                </a:schemeClr>
              </a:solidFill>
              <a:latin typeface="Calisto MT" panose="0204060305050503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252F55-1BC4-8D6F-145D-7F1CD72AD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28600"/>
            <a:ext cx="1828800" cy="11161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93FB2B-D393-593A-8659-22131B909225}"/>
              </a:ext>
            </a:extLst>
          </p:cNvPr>
          <p:cNvSpPr txBox="1"/>
          <p:nvPr/>
        </p:nvSpPr>
        <p:spPr>
          <a:xfrm>
            <a:off x="1714500" y="1811171"/>
            <a:ext cx="624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 u="sng" dirty="0">
                <a:solidFill>
                  <a:schemeClr val="accent2">
                    <a:lumMod val="75000"/>
                  </a:schemeClr>
                </a:solidFill>
                <a:latin typeface="Eras Demi ITC" panose="020B0805030504020804" pitchFamily="34" charset="0"/>
              </a:rPr>
              <a:t>Computer  Science  And Engineering Department</a:t>
            </a:r>
            <a:endParaRPr lang="en-IN" sz="2000" i="1" u="sng" dirty="0">
              <a:solidFill>
                <a:schemeClr val="accent2">
                  <a:lumMod val="75000"/>
                </a:schemeClr>
              </a:solidFill>
              <a:latin typeface="Eras Demi ITC" panose="020B08050305040208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037547-5179-8659-A5A0-7FE271C16ACC}"/>
              </a:ext>
            </a:extLst>
          </p:cNvPr>
          <p:cNvSpPr txBox="1"/>
          <p:nvPr/>
        </p:nvSpPr>
        <p:spPr>
          <a:xfrm>
            <a:off x="2857499" y="2507324"/>
            <a:ext cx="3467101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en-US" sz="2400" dirty="0">
                <a:solidFill>
                  <a:schemeClr val="accent6">
                    <a:lumMod val="50000"/>
                  </a:schemeClr>
                </a:solidFill>
                <a:latin typeface="Calisto MT" panose="02040603050505030304" pitchFamily="18" charset="0"/>
              </a:rPr>
              <a:t>COURSE - JOVAC AWS</a:t>
            </a:r>
            <a:endParaRPr lang="en-US" sz="2400" dirty="0">
              <a:solidFill>
                <a:schemeClr val="accent6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02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🔥 [30+] AWS 4K Wallpapers | WallpaperSafari">
            <a:extLst>
              <a:ext uri="{FF2B5EF4-FFF2-40B4-BE49-F238E27FC236}">
                <a16:creationId xmlns:a16="http://schemas.microsoft.com/office/drawing/2014/main" id="{2AB1359B-184D-47FB-B56B-F65A69158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286" y="-228600"/>
            <a:ext cx="9216571" cy="708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A64EBF5-0152-7C8E-16C0-83B6E94DE88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rcRect l="13912" t="18274" b="7836"/>
          <a:stretch/>
        </p:blipFill>
        <p:spPr>
          <a:xfrm>
            <a:off x="-36285" y="-228600"/>
            <a:ext cx="9216570" cy="7086600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3" name="Rectangle 2"/>
          <p:cNvSpPr>
            <a:spLocks noGrp="1"/>
          </p:cNvSpPr>
          <p:nvPr>
            <p:ph type="subTitle" idx="1"/>
          </p:nvPr>
        </p:nvSpPr>
        <p:spPr>
          <a:xfrm>
            <a:off x="2438400" y="3505200"/>
            <a:ext cx="5105400" cy="2895600"/>
          </a:xfrm>
        </p:spPr>
        <p:txBody>
          <a:bodyPr>
            <a:normAutofit fontScale="92500" lnSpcReduction="20000"/>
          </a:bodyPr>
          <a:lstStyle/>
          <a:p>
            <a:pPr algn="ctr"/>
            <a:endParaRPr lang="en-US" sz="1400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Presented By:-</a:t>
            </a:r>
          </a:p>
          <a:p>
            <a:r>
              <a:rPr lang="en-US" sz="2400" b="1" dirty="0">
                <a:solidFill>
                  <a:srgbClr val="FFC000"/>
                </a:solidFill>
                <a:latin typeface="Copperplate Gothic Light" panose="020E0507020206020404" pitchFamily="34" charset="0"/>
              </a:rPr>
              <a:t>Kuldeep Sharma   (2215000956)</a:t>
            </a:r>
          </a:p>
          <a:p>
            <a:r>
              <a:rPr lang="en-US" sz="2400" b="1" dirty="0">
                <a:solidFill>
                  <a:srgbClr val="FFC000"/>
                </a:solidFill>
                <a:latin typeface="Copperplate Gothic Light" panose="020E0507020206020404" pitchFamily="34" charset="0"/>
              </a:rPr>
              <a:t>Anamika Singh       (2215000221)</a:t>
            </a:r>
          </a:p>
          <a:p>
            <a:r>
              <a:rPr lang="en-US" sz="2400" b="1" dirty="0">
                <a:solidFill>
                  <a:srgbClr val="FFC000"/>
                </a:solidFill>
                <a:latin typeface="Copperplate Gothic Light" panose="020E0507020206020404" pitchFamily="34" charset="0"/>
              </a:rPr>
              <a:t>Tanish Gupta          (2215001829)</a:t>
            </a:r>
          </a:p>
          <a:p>
            <a:r>
              <a:rPr lang="en-US" sz="2400" b="1" dirty="0">
                <a:solidFill>
                  <a:srgbClr val="FFC000"/>
                </a:solidFill>
                <a:latin typeface="Copperplate Gothic Light" panose="020E0507020206020404" pitchFamily="34" charset="0"/>
              </a:rPr>
              <a:t>Vishnu Upadhyay   (2215001991)</a:t>
            </a:r>
          </a:p>
          <a:p>
            <a:r>
              <a:rPr lang="en-US" sz="2400" b="1" dirty="0">
                <a:solidFill>
                  <a:srgbClr val="FFC000"/>
                </a:solidFill>
                <a:latin typeface="Copperplate Gothic Light" panose="020E0507020206020404" pitchFamily="34" charset="0"/>
              </a:rPr>
              <a:t>Sandeep Kumar     (2215001573)</a:t>
            </a:r>
          </a:p>
        </p:txBody>
      </p:sp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1019025" y="1139151"/>
            <a:ext cx="7848600" cy="1669489"/>
          </a:xfrm>
        </p:spPr>
        <p:txBody>
          <a:bodyPr/>
          <a:lstStyle/>
          <a:p>
            <a:r>
              <a:rPr lang="en-US" sz="3600" dirty="0">
                <a:solidFill>
                  <a:srgbClr val="FFC000"/>
                </a:solidFill>
              </a:rPr>
              <a:t>Create an </a:t>
            </a:r>
            <a:r>
              <a:rPr lang="en-US" sz="3600" dirty="0">
                <a:solidFill>
                  <a:schemeClr val="tx2"/>
                </a:solidFill>
              </a:rPr>
              <a:t>AutoScaling Group</a:t>
            </a: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3600" dirty="0">
                <a:solidFill>
                  <a:srgbClr val="FFC000"/>
                </a:solidFill>
              </a:rPr>
              <a:t> and put </a:t>
            </a:r>
            <a:r>
              <a:rPr lang="en-US" sz="3600" dirty="0">
                <a:solidFill>
                  <a:schemeClr val="tx2"/>
                </a:solidFill>
              </a:rPr>
              <a:t>Load Balancer</a:t>
            </a:r>
            <a:r>
              <a:rPr lang="en-US" sz="3600" dirty="0">
                <a:solidFill>
                  <a:srgbClr val="FFC000"/>
                </a:solidFill>
              </a:rPr>
              <a:t>,</a:t>
            </a:r>
            <a:br>
              <a:rPr lang="en-US" sz="3600" dirty="0">
                <a:solidFill>
                  <a:srgbClr val="FFC000"/>
                </a:solidFill>
              </a:rPr>
            </a:br>
            <a:r>
              <a:rPr lang="en-US" sz="3600" dirty="0">
                <a:solidFill>
                  <a:schemeClr val="tx2"/>
                </a:solidFill>
              </a:rPr>
              <a:t>Test it</a:t>
            </a:r>
            <a:r>
              <a:rPr lang="en-US" sz="3600" dirty="0">
                <a:solidFill>
                  <a:srgbClr val="FFC000"/>
                </a:solidFill>
              </a:rPr>
              <a:t>.</a:t>
            </a:r>
            <a:endParaRPr lang="en-US" sz="3600" i="1" u="sng" dirty="0">
              <a:solidFill>
                <a:srgbClr val="FFC000"/>
              </a:solidFill>
            </a:endParaRPr>
          </a:p>
        </p:txBody>
      </p:sp>
      <p:sp>
        <p:nvSpPr>
          <p:cNvPr id="4" name="AutoShape 4" descr="AWS Migration Strategy - Some Simple ...">
            <a:extLst>
              <a:ext uri="{FF2B5EF4-FFF2-40B4-BE49-F238E27FC236}">
                <a16:creationId xmlns:a16="http://schemas.microsoft.com/office/drawing/2014/main" id="{F8FC6108-CA7A-469B-97C8-B81F91A61A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AWS Migration Strategy - Some Simple ...">
            <a:extLst>
              <a:ext uri="{FF2B5EF4-FFF2-40B4-BE49-F238E27FC236}">
                <a16:creationId xmlns:a16="http://schemas.microsoft.com/office/drawing/2014/main" id="{05EBC545-AC82-4C85-9C7A-0070D8648F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6D3A5E-E2D3-59EB-DAF4-543CD269EA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-76200"/>
            <a:ext cx="1447800" cy="9642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99ED1CC-510F-A77D-729D-3586C9054AAB}"/>
              </a:ext>
            </a:extLst>
          </p:cNvPr>
          <p:cNvSpPr txBox="1"/>
          <p:nvPr/>
        </p:nvSpPr>
        <p:spPr>
          <a:xfrm>
            <a:off x="4419600" y="671191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TOPIC :-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BFEAD-A2E5-4243-B7D5-7DC2C6722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395"/>
            <a:ext cx="6781800" cy="396605"/>
          </a:xfrm>
        </p:spPr>
        <p:txBody>
          <a:bodyPr/>
          <a:lstStyle/>
          <a:p>
            <a:br>
              <a:rPr lang="en-US" dirty="0">
                <a:solidFill>
                  <a:srgbClr val="002060"/>
                </a:solidFill>
              </a:rPr>
            </a:br>
            <a:r>
              <a:rPr lang="en-GB" dirty="0"/>
              <a:t>STEPS FOR CREATING PROJECT ON AWS. </a:t>
            </a:r>
            <a:endParaRPr lang="en-US" u="sng" dirty="0">
              <a:solidFill>
                <a:srgbClr val="00206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AF783D-5FF3-4949-8418-9F1D53149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905000"/>
            <a:ext cx="6324600" cy="403860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Calisto MT" panose="02040603050505030304" pitchFamily="18" charset="0"/>
              </a:rPr>
              <a:t>Create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Calisto MT" panose="02040603050505030304" pitchFamily="18" charset="0"/>
              </a:rPr>
              <a:t>two</a:t>
            </a:r>
            <a:r>
              <a:rPr lang="en-IN" dirty="0">
                <a:latin typeface="Calisto MT" panose="02040603050505030304" pitchFamily="18" charset="0"/>
              </a:rPr>
              <a:t>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Calisto MT" panose="02040603050505030304" pitchFamily="18" charset="0"/>
              </a:rPr>
              <a:t>server/instances</a:t>
            </a:r>
            <a:r>
              <a:rPr lang="en-IN" dirty="0">
                <a:latin typeface="Calisto MT" panose="0204060305050503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alisto MT" panose="02040603050505030304" pitchFamily="18" charset="0"/>
              </a:rPr>
              <a:t>Create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sto MT" panose="02040603050505030304" pitchFamily="18" charset="0"/>
              </a:rPr>
              <a:t>target group &amp;</a:t>
            </a:r>
            <a:r>
              <a:rPr lang="en-GB" dirty="0">
                <a:latin typeface="Calisto MT" panose="02040603050505030304" pitchFamily="18" charset="0"/>
              </a:rPr>
              <a:t>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sto MT" panose="02040603050505030304" pitchFamily="18" charset="0"/>
              </a:rPr>
              <a:t>connect server</a:t>
            </a:r>
            <a:r>
              <a:rPr lang="en-GB" dirty="0">
                <a:latin typeface="Calisto MT" panose="0204060305050503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listo MT" panose="02040603050505030304" pitchFamily="18" charset="0"/>
              </a:rPr>
              <a:t>Create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Calisto MT" panose="02040603050505030304" pitchFamily="18" charset="0"/>
              </a:rPr>
              <a:t>Load Balancer</a:t>
            </a:r>
            <a:r>
              <a:rPr lang="en-IN" dirty="0">
                <a:latin typeface="Calisto MT" panose="0204060305050503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listo MT" panose="02040603050505030304" pitchFamily="18" charset="0"/>
              </a:rPr>
              <a:t>Create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Calisto MT" panose="02040603050505030304" pitchFamily="18" charset="0"/>
              </a:rPr>
              <a:t>Launch template</a:t>
            </a:r>
            <a:r>
              <a:rPr lang="en-IN" dirty="0">
                <a:latin typeface="Calisto MT" panose="0204060305050503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listo MT" panose="02040603050505030304" pitchFamily="18" charset="0"/>
              </a:rPr>
              <a:t>Create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Calisto MT" panose="02040603050505030304" pitchFamily="18" charset="0"/>
              </a:rPr>
              <a:t>Autoscaling group</a:t>
            </a:r>
            <a:r>
              <a:rPr lang="en-IN" dirty="0">
                <a:latin typeface="Calisto MT" panose="02040603050505030304" pitchFamily="18" charset="0"/>
              </a:rPr>
              <a:t>. </a:t>
            </a:r>
            <a:endParaRPr lang="en-US" dirty="0">
              <a:latin typeface="Calisto MT" panose="0204060305050503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E07903-C1A6-B62C-B822-D6B3FFD3B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890" y="5181600"/>
            <a:ext cx="2680309" cy="13110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2F21E5-3C12-4A25-F9EB-D85F32C9A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311" y="182828"/>
            <a:ext cx="1447800" cy="96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79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010400" cy="1295400"/>
          </a:xfrm>
        </p:spPr>
        <p:txBody>
          <a:bodyPr/>
          <a:lstStyle/>
          <a:p>
            <a:r>
              <a:rPr lang="en-US" dirty="0"/>
              <a:t>What is Autoscaling </a:t>
            </a:r>
            <a:br>
              <a:rPr lang="en-US" dirty="0"/>
            </a:br>
            <a:r>
              <a:rPr lang="en-US" dirty="0"/>
              <a:t>group?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9E877F6-38FC-4A0F-97E9-9F22035B6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9800"/>
            <a:ext cx="7848600" cy="3276600"/>
          </a:xfrm>
        </p:spPr>
        <p:txBody>
          <a:bodyPr>
            <a:normAutofit/>
          </a:bodyPr>
          <a:lstStyle/>
          <a:p>
            <a:r>
              <a:rPr lang="en-GB" sz="3000" b="1" dirty="0">
                <a:latin typeface="Calisto MT" panose="02040603050505030304" pitchFamily="18" charset="0"/>
              </a:rPr>
              <a:t>Autoscaling Group </a:t>
            </a:r>
            <a:r>
              <a:rPr lang="en-GB" sz="3000" dirty="0">
                <a:latin typeface="Calisto MT" panose="02040603050505030304" pitchFamily="18" charset="0"/>
              </a:rPr>
              <a:t>helps to create automatically adjusts the number of instances to handle the load if load will decrease then instances will terminate.</a:t>
            </a:r>
          </a:p>
          <a:p>
            <a:r>
              <a:rPr lang="en-GB" sz="3000" dirty="0">
                <a:solidFill>
                  <a:schemeClr val="accent2">
                    <a:lumMod val="75000"/>
                  </a:schemeClr>
                </a:solidFill>
                <a:latin typeface="Calisto MT" panose="02040603050505030304" pitchFamily="18" charset="0"/>
              </a:rPr>
              <a:t>Ex:- </a:t>
            </a:r>
            <a:r>
              <a:rPr lang="en-GB" sz="2600" dirty="0">
                <a:solidFill>
                  <a:schemeClr val="accent2">
                    <a:lumMod val="75000"/>
                  </a:schemeClr>
                </a:solidFill>
                <a:latin typeface="Calisto MT" panose="02040603050505030304" pitchFamily="18" charset="0"/>
              </a:rPr>
              <a:t>Web Application, Netflix, Amazon, etc</a:t>
            </a:r>
          </a:p>
          <a:p>
            <a:endParaRPr lang="en-GB" sz="2600" dirty="0"/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911A2C-CCF4-A196-5AD9-5E68E1BB7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311" y="182828"/>
            <a:ext cx="1447800" cy="9642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6E67D3-CB58-3E10-07E2-514F7478A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890" y="5181600"/>
            <a:ext cx="2680309" cy="13110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457200" y="294372"/>
            <a:ext cx="4876800" cy="1211839"/>
          </a:xfrm>
        </p:spPr>
        <p:txBody>
          <a:bodyPr/>
          <a:lstStyle/>
          <a:p>
            <a:r>
              <a:rPr lang="en-US" dirty="0"/>
              <a:t>What is Load Balancer 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2BF007-9AE4-6691-F8DD-07DE754E6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51650"/>
            <a:ext cx="8229600" cy="414435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Calisto MT" panose="02040603050505030304" pitchFamily="18" charset="0"/>
              </a:rPr>
              <a:t>A </a:t>
            </a:r>
            <a:r>
              <a:rPr lang="en-GB" b="1" dirty="0">
                <a:latin typeface="Calisto MT" panose="02040603050505030304" pitchFamily="18" charset="0"/>
              </a:rPr>
              <a:t>Load Balancer</a:t>
            </a:r>
            <a:r>
              <a:rPr lang="en-GB" dirty="0">
                <a:latin typeface="Calisto MT" panose="02040603050505030304" pitchFamily="18" charset="0"/>
              </a:rPr>
              <a:t> is a service that automatically distributes incoming network traffic across multiple servers or instances. The goal of a load balancer is to ensure that no single server is overwhelmed by too much traffic, thus improving the availability, reliability, and scalability of your application.</a:t>
            </a:r>
            <a:endParaRPr lang="en-IN" dirty="0">
              <a:latin typeface="Calisto MT" panose="0204060305050503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2710FD-4840-E558-3746-B16CFCBC5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971" y="5600690"/>
            <a:ext cx="2215140" cy="10744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187B8A-00D4-BE91-A6FA-B385B9DA8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311" y="182828"/>
            <a:ext cx="1447800" cy="9642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8A023-36E6-26FE-05A6-2DE91DC2B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71661"/>
            <a:ext cx="6553200" cy="799306"/>
          </a:xfrm>
        </p:spPr>
        <p:txBody>
          <a:bodyPr/>
          <a:lstStyle/>
          <a:p>
            <a:pPr marL="64008" indent="0">
              <a:lnSpc>
                <a:spcPct val="110000"/>
              </a:lnSpc>
            </a:pPr>
            <a:r>
              <a:rPr lang="en-GB" sz="4000" b="1" dirty="0">
                <a:solidFill>
                  <a:schemeClr val="accent1"/>
                </a:solidFill>
              </a:rPr>
              <a:t>Launch Template: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45EAD-E9B2-B3AF-C1C9-0BCDA7944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8382000" cy="2972433"/>
          </a:xfrm>
        </p:spPr>
        <p:txBody>
          <a:bodyPr>
            <a:normAutofit/>
          </a:bodyPr>
          <a:lstStyle/>
          <a:p>
            <a:pPr marL="64008" indent="0">
              <a:lnSpc>
                <a:spcPct val="150000"/>
              </a:lnSpc>
              <a:buNone/>
            </a:pPr>
            <a:r>
              <a:rPr lang="en-GB" dirty="0">
                <a:latin typeface="Calisto MT" panose="02040603050505030304" pitchFamily="18" charset="0"/>
              </a:rPr>
              <a:t>Define parameters like AMI (Amazon Machine Image), instance type, key pairs, security groups, and more, to reuse across multiple instance launches.</a:t>
            </a:r>
            <a:endParaRPr lang="en-GB" b="1" dirty="0">
              <a:solidFill>
                <a:schemeClr val="accent1"/>
              </a:solidFill>
              <a:latin typeface="Calisto MT" panose="0204060305050503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FCC7E8-4E8F-A27B-AEB4-5240C04C5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5257306"/>
            <a:ext cx="2960511" cy="12886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063B3E-B7D5-94A4-D34E-AC258491D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311" y="182828"/>
            <a:ext cx="1447800" cy="96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526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2A974-6B07-430D-3438-0F64118B6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394"/>
            <a:ext cx="5562600" cy="1158605"/>
          </a:xfrm>
        </p:spPr>
        <p:txBody>
          <a:bodyPr/>
          <a:lstStyle/>
          <a:p>
            <a:r>
              <a:rPr lang="en-GB" dirty="0"/>
              <a:t>Target group: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7D016-865E-6B77-293B-FD7E70C78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2971800"/>
          </a:xfrm>
        </p:spPr>
        <p:txBody>
          <a:bodyPr>
            <a:normAutofit/>
          </a:bodyPr>
          <a:lstStyle/>
          <a:p>
            <a:pPr marL="64008" indent="0">
              <a:lnSpc>
                <a:spcPct val="150000"/>
              </a:lnSpc>
              <a:buNone/>
            </a:pPr>
            <a:r>
              <a:rPr lang="en-GB" dirty="0">
                <a:latin typeface="Calisto MT" panose="02040603050505030304" pitchFamily="18" charset="0"/>
              </a:rPr>
              <a:t>In AWS, a </a:t>
            </a:r>
            <a:r>
              <a:rPr lang="en-GB" b="1" dirty="0">
                <a:latin typeface="Calisto MT" panose="02040603050505030304" pitchFamily="18" charset="0"/>
              </a:rPr>
              <a:t>Target Group</a:t>
            </a:r>
            <a:r>
              <a:rPr lang="en-GB" dirty="0">
                <a:latin typeface="Calisto MT" panose="02040603050505030304" pitchFamily="18" charset="0"/>
              </a:rPr>
              <a:t> is a configuration resource associated with </a:t>
            </a:r>
            <a:r>
              <a:rPr lang="en-GB" b="1" dirty="0">
                <a:latin typeface="Calisto MT" panose="02040603050505030304" pitchFamily="18" charset="0"/>
              </a:rPr>
              <a:t>Elastic Load Balancers (ELB)</a:t>
            </a:r>
            <a:r>
              <a:rPr lang="en-GB" dirty="0">
                <a:latin typeface="Calisto MT" panose="02040603050505030304" pitchFamily="18" charset="0"/>
              </a:rPr>
              <a:t> that defines how traffic should be directed to a specific set of registered instances, containers, or IP address.</a:t>
            </a:r>
            <a:endParaRPr lang="en-IN" dirty="0">
              <a:latin typeface="Calisto MT" panose="0204060305050503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51ED22-EB2E-85A7-77DF-3F716F683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766" y="5334000"/>
            <a:ext cx="2769899" cy="12057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79325A-4AD2-5736-9EB4-898396547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311" y="182828"/>
            <a:ext cx="1447800" cy="96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922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18BA1-69E1-7132-AE9E-690288124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Real life Example: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D98E5-130C-5725-88A9-BDC208C08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2895600"/>
          </a:xfrm>
        </p:spPr>
        <p:txBody>
          <a:bodyPr/>
          <a:lstStyle/>
          <a:p>
            <a:r>
              <a:rPr lang="en-IN" dirty="0">
                <a:latin typeface="Calisto MT" panose="02040603050505030304" pitchFamily="18" charset="0"/>
              </a:rPr>
              <a:t>E-Commerce Website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Calisto MT" panose="02040603050505030304" pitchFamily="18" charset="0"/>
              </a:rPr>
              <a:t>(e.g. Flipkart)</a:t>
            </a:r>
          </a:p>
          <a:p>
            <a:r>
              <a:rPr lang="en-IN" dirty="0">
                <a:latin typeface="Calisto MT" panose="02040603050505030304" pitchFamily="18" charset="0"/>
              </a:rPr>
              <a:t>Video Streaming Platform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Calisto MT" panose="02040603050505030304" pitchFamily="18" charset="0"/>
              </a:rPr>
              <a:t>(e.g. Netflix)</a:t>
            </a:r>
          </a:p>
          <a:p>
            <a:r>
              <a:rPr lang="en-IN" dirty="0">
                <a:latin typeface="Calisto MT" panose="02040603050505030304" pitchFamily="18" charset="0"/>
              </a:rPr>
              <a:t>Financial Applications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Calisto MT" panose="02040603050505030304" pitchFamily="18" charset="0"/>
              </a:rPr>
              <a:t>(e.g. Paytm)</a:t>
            </a:r>
          </a:p>
          <a:p>
            <a:r>
              <a:rPr lang="en-IN" dirty="0">
                <a:latin typeface="Calisto MT" panose="02040603050505030304" pitchFamily="18" charset="0"/>
              </a:rPr>
              <a:t>Online Gaming Services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Calisto MT" panose="02040603050505030304" pitchFamily="18" charset="0"/>
              </a:rPr>
              <a:t>(e.g. Call of Duty)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7ADA0A-01B9-B25C-398E-E14FC2BF3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169" y="5334000"/>
            <a:ext cx="2586608" cy="11259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5AAF1D-80CA-F4C1-59E7-04C2360B2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311" y="182828"/>
            <a:ext cx="1447800" cy="96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898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27CE-B5A3-95BC-97C3-93BC03E6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394"/>
            <a:ext cx="4876800" cy="1387205"/>
          </a:xfrm>
        </p:spPr>
        <p:txBody>
          <a:bodyPr/>
          <a:lstStyle/>
          <a:p>
            <a:r>
              <a:rPr lang="en-GB" dirty="0"/>
              <a:t>Advantage: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C877B-AF69-51FE-0569-0367C53C1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3886200"/>
          </a:xfrm>
        </p:spPr>
        <p:txBody>
          <a:bodyPr/>
          <a:lstStyle/>
          <a:p>
            <a:r>
              <a:rPr lang="en-IN" dirty="0">
                <a:latin typeface="Calisto MT" panose="02040603050505030304" pitchFamily="18" charset="0"/>
              </a:rPr>
              <a:t>Scalability</a:t>
            </a:r>
          </a:p>
          <a:p>
            <a:r>
              <a:rPr lang="en-IN" dirty="0">
                <a:latin typeface="Calisto MT" panose="02040603050505030304" pitchFamily="18" charset="0"/>
              </a:rPr>
              <a:t>High Availability</a:t>
            </a:r>
          </a:p>
          <a:p>
            <a:r>
              <a:rPr lang="en-GB" dirty="0">
                <a:latin typeface="Calisto MT" panose="02040603050505030304" pitchFamily="18" charset="0"/>
              </a:rPr>
              <a:t>Improved Performance and User Experience</a:t>
            </a:r>
            <a:endParaRPr lang="en-IN" dirty="0">
              <a:latin typeface="Calisto MT" panose="02040603050505030304" pitchFamily="18" charset="0"/>
            </a:endParaRPr>
          </a:p>
          <a:p>
            <a:r>
              <a:rPr lang="en-IN" dirty="0">
                <a:latin typeface="Calisto MT" panose="02040603050505030304" pitchFamily="18" charset="0"/>
              </a:rPr>
              <a:t>Simplified Management and Monitoring</a:t>
            </a:r>
          </a:p>
          <a:p>
            <a:endParaRPr lang="en-IN" dirty="0">
              <a:latin typeface="Calisto MT" panose="0204060305050503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2F84BA-A4A6-C3A8-E242-16AD06599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9536" y="5334000"/>
            <a:ext cx="2594841" cy="11295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102D03-477B-0F86-E623-ED79AA096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311" y="182828"/>
            <a:ext cx="1447800" cy="96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457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B61E-5A35-207E-4352-68C9F2633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B5019-96CA-E79D-9F3C-BA23017DA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447800"/>
            <a:ext cx="7696199" cy="32004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Calisto MT" panose="02040603050505030304" pitchFamily="18" charset="0"/>
              </a:rPr>
              <a:t>The combination of an </a:t>
            </a:r>
            <a:r>
              <a:rPr lang="en-GB" b="1" dirty="0">
                <a:latin typeface="Calisto MT" panose="02040603050505030304" pitchFamily="18" charset="0"/>
              </a:rPr>
              <a:t>Auto Scaling Group</a:t>
            </a:r>
            <a:r>
              <a:rPr lang="en-GB" dirty="0">
                <a:latin typeface="Calisto MT" panose="02040603050505030304" pitchFamily="18" charset="0"/>
              </a:rPr>
              <a:t> and a </a:t>
            </a:r>
            <a:r>
              <a:rPr lang="en-GB" b="1" dirty="0">
                <a:latin typeface="Calisto MT" panose="02040603050505030304" pitchFamily="18" charset="0"/>
              </a:rPr>
              <a:t>Load Balancer</a:t>
            </a:r>
            <a:r>
              <a:rPr lang="en-GB" dirty="0">
                <a:latin typeface="Calisto MT" panose="02040603050505030304" pitchFamily="18" charset="0"/>
              </a:rPr>
              <a:t> provides a robust, scalable, cost-effective, and highly available architecture for your applications. It ensures that your system can handle varying loads while maintaining consistent performance, security, and availability.</a:t>
            </a:r>
            <a:endParaRPr lang="en-IN" dirty="0">
              <a:latin typeface="Calisto MT" panose="0204060305050503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908987-CB40-3FB3-DAFD-C3AE967DF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112" y="5257800"/>
            <a:ext cx="2792553" cy="12155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310A6C-D29F-2329-F215-CD038B46A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311" y="182828"/>
            <a:ext cx="1447800" cy="96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02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4E74A4-7A47-4410-A450-16062AFB3F41}"/>
              </a:ext>
            </a:extLst>
          </p:cNvPr>
          <p:cNvSpPr/>
          <p:nvPr/>
        </p:nvSpPr>
        <p:spPr>
          <a:xfrm>
            <a:off x="4191000" y="5562600"/>
            <a:ext cx="396240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i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YOU!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B6DCE9-9F49-DB77-ABEA-AC0BC8C4C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98582"/>
            <a:ext cx="6237296" cy="48640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24923C-7033-680D-FF19-F2DED0C8C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311" y="182828"/>
            <a:ext cx="1447800" cy="96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508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Custom 48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C94C25"/>
      </a:accent1>
      <a:accent2>
        <a:srgbClr val="EA8640"/>
      </a:accent2>
      <a:accent3>
        <a:srgbClr val="99D9E7"/>
      </a:accent3>
      <a:accent4>
        <a:srgbClr val="FAB17B"/>
      </a:accent4>
      <a:accent5>
        <a:srgbClr val="21B8B3"/>
      </a:accent5>
      <a:accent6>
        <a:srgbClr val="F3786E"/>
      </a:accent6>
      <a:hlink>
        <a:srgbClr val="646567"/>
      </a:hlink>
      <a:folHlink>
        <a:srgbClr val="646567"/>
      </a:folHlink>
    </a:clrScheme>
    <a:fontScheme name="Custom 27">
      <a:majorFont>
        <a:latin typeface="Segoe UI"/>
        <a:ea typeface=""/>
        <a:cs typeface=""/>
      </a:majorFont>
      <a:minorFont>
        <a:latin typeface="Arial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110000" t="250000" r="110000" b="40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110000" t="250000" r="110000" b="40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0000"/>
                <a:satMod val="130000"/>
              </a:schemeClr>
              <a:schemeClr val="phClr">
                <a:tint val="70000"/>
                <a:satMod val="130000"/>
              </a:schemeClr>
            </a:duotone>
          </a:blip>
          <a:tile tx="0" ty="0" sx="90000" sy="90000" flip="none" algn="t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167107_Project status report_RVA_v3.potx" id="{4F81F982-6C51-4092-B8D8-4B9E627EB026}" vid="{408BF7D7-5259-4FB8-AB61-68B3FB5EAB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DC31EBE-A492-4CE5-9650-1E2C8FDDD7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AD0D4C-03C4-489C-932A-66E2D74FA6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CB47EFB-BDBB-4CE5-A848-1507BE3B798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status report</Template>
  <TotalTime>0</TotalTime>
  <Words>387</Words>
  <Application>Microsoft Office PowerPoint</Application>
  <PresentationFormat>On-screen Show (4:3)</PresentationFormat>
  <Paragraphs>45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Calisto MT</vt:lpstr>
      <vt:lpstr>Copperplate Gothic Light</vt:lpstr>
      <vt:lpstr>Eras Demi ITC</vt:lpstr>
      <vt:lpstr>Segoe UI</vt:lpstr>
      <vt:lpstr>Wingdings 2</vt:lpstr>
      <vt:lpstr>Verve</vt:lpstr>
      <vt:lpstr>GLA UNIVERSITY (MATHURA)</vt:lpstr>
      <vt:lpstr>Create an AutoScaling Group  and put Load Balancer, Test it.</vt:lpstr>
      <vt:lpstr> STEPS FOR CREATING PROJECT ON AWS. </vt:lpstr>
      <vt:lpstr>What is Autoscaling  group?</vt:lpstr>
      <vt:lpstr>What is Load Balancer ?</vt:lpstr>
      <vt:lpstr>Launch Template:</vt:lpstr>
      <vt:lpstr>Target group:</vt:lpstr>
      <vt:lpstr>Real life Example:</vt:lpstr>
      <vt:lpstr>Advantage: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2024-11-15T13:04:30Z</dcterms:created>
  <dcterms:modified xsi:type="dcterms:W3CDTF">2024-12-02T05:03:26Z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